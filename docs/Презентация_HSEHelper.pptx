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.me/HSEHelperIVTbot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.me/HSEHelperIVTbo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52739"/>
          </a:solidFill>
          <a:ln>
            <a:solidFill>
              <a:srgbClr val="D5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62179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4BBEC7"/>
                </a:solidFill>
                <a:latin typeface="Aptos"/>
              </a:defRPr>
            </a:pPr>
            <a:r>
              <a:t>ПРОТОТИП • ОТБОРОЧНОЕ ЗАДАНИЕ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6492240" cy="1417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Навигатор ИВТ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5760720" cy="10515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000" b="0">
                <a:solidFill>
                  <a:srgbClr val="D7DFEE"/>
                </a:solidFill>
                <a:latin typeface="Aptos"/>
              </a:defRPr>
            </a:pPr>
            <a:r>
              <a:t>Помощник первокурсника МИЭМ НИУ ВШЭ по содержанию учебных дисциплин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187952"/>
            <a:ext cx="5029200" cy="36576"/>
          </a:xfrm>
          <a:prstGeom prst="rect">
            <a:avLst/>
          </a:prstGeom>
          <a:solidFill>
            <a:srgbClr val="455779"/>
          </a:solidFill>
          <a:ln>
            <a:solidFill>
              <a:srgbClr val="455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462272"/>
            <a:ext cx="5486400" cy="6858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D7DFEE"/>
                </a:solidFill>
                <a:latin typeface="Aptos"/>
              </a:defRPr>
            </a:pPr>
            <a:r>
              <a:t>Учебный год: 2026/2027</a:t>
            </a:r>
            <a:br/>
            <a:r>
              <a:t>Источник: публичные программы дисциплин ВШЭ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207008"/>
            <a:ext cx="3794760" cy="4480560"/>
          </a:xfrm>
          <a:prstGeom prst="roundRect">
            <a:avLst/>
          </a:prstGeom>
          <a:solidFill>
            <a:srgbClr val="1E2D4B"/>
          </a:solidFill>
          <a:ln>
            <a:solidFill>
              <a:srgbClr val="435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73568" y="1627632"/>
            <a:ext cx="2926080" cy="576072"/>
          </a:xfrm>
          <a:prstGeom prst="roundRect">
            <a:avLst/>
          </a:prstGeom>
          <a:solidFill>
            <a:srgbClr val="4476D6"/>
          </a:solidFill>
          <a:ln>
            <a:solidFill>
              <a:srgbClr val="447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719072"/>
            <a:ext cx="2679192" cy="3383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HSE • КУРСЫ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2203704"/>
            <a:ext cx="457200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3568" y="2587752"/>
            <a:ext cx="2926080" cy="576072"/>
          </a:xfrm>
          <a:prstGeom prst="roundRect">
            <a:avLst/>
          </a:prstGeom>
          <a:solidFill>
            <a:srgbClr val="4BBEC7"/>
          </a:solidFill>
          <a:ln>
            <a:solidFill>
              <a:srgbClr val="4BB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679192"/>
            <a:ext cx="2679192" cy="3383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ПОИСК ФРАГМЕНТОВ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3163824"/>
            <a:ext cx="457200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3547872"/>
            <a:ext cx="2926080" cy="576072"/>
          </a:xfrm>
          <a:prstGeom prst="roundRect">
            <a:avLst/>
          </a:prstGeom>
          <a:solidFill>
            <a:srgbClr val="D52739"/>
          </a:solidFill>
          <a:ln>
            <a:solidFill>
              <a:srgbClr val="D5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3639312"/>
            <a:ext cx="2679192" cy="3383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LLM • ОТВЕТ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4123944"/>
            <a:ext cx="457200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4507992"/>
            <a:ext cx="2926080" cy="576072"/>
          </a:xfrm>
          <a:prstGeom prst="roundRect">
            <a:avLst/>
          </a:prstGeom>
          <a:solidFill>
            <a:srgbClr val="2C9169"/>
          </a:solidFill>
          <a:ln>
            <a:solidFill>
              <a:srgbClr val="2C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4599432"/>
            <a:ext cx="2679192" cy="3383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ССЫЛКИ НА ИСТОЧНИКИ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355080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0">
                <a:solidFill>
                  <a:srgbClr val="AAB8CF"/>
                </a:solidFill>
                <a:latin typeface="Aptos"/>
              </a:defRPr>
            </a:pPr>
            <a:r>
              <a:t>Архитектура: сбор данных → retrieval → генерация → ссылки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1440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D52739"/>
                </a:solidFill>
                <a:latin typeface="Aptos"/>
              </a:defRPr>
            </a:pPr>
            <a:r>
              <a:t>01 • ПОСТАНОВКА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11C34"/>
                </a:solidFill>
                <a:latin typeface="Aptos"/>
              </a:defRPr>
            </a:pPr>
            <a:r>
              <a:t>Задача и критерии успеха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731520" cy="54864"/>
          </a:xfrm>
          <a:prstGeom prst="rect">
            <a:avLst/>
          </a:prstGeom>
          <a:solidFill>
            <a:srgbClr val="D52739"/>
          </a:solidFill>
          <a:ln>
            <a:solidFill>
              <a:srgbClr val="D5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0">
                <a:solidFill>
                  <a:srgbClr val="606C8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2120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64008" cy="4343400"/>
          </a:xfrm>
          <a:prstGeom prst="rect">
            <a:avLst/>
          </a:prstGeom>
          <a:solidFill>
            <a:srgbClr val="D52739"/>
          </a:solidFill>
          <a:ln>
            <a:solidFill>
              <a:srgbClr val="D5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484632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111C34"/>
                </a:solidFill>
                <a:latin typeface="Aptos"/>
              </a:defRPr>
            </a:pPr>
            <a:r>
              <a:t>Что требует ТЗ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85416"/>
            <a:ext cx="4846320" cy="3630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B3D"/>
                </a:solidFill>
                <a:latin typeface="Aptos"/>
              </a:defRPr>
            </a:pPr>
            <a:r>
              <a:t>•  Только дисциплины 1 курса за 2026/2027 учебный год.</a:t>
            </a:r>
          </a:p>
          <a:p>
            <a:pPr>
              <a:spcAft>
                <a:spcPts val="800"/>
              </a:spcAft>
              <a:defRPr sz="1500">
                <a:solidFill>
                  <a:srgbClr val="202B3D"/>
                </a:solidFill>
                <a:latin typeface="Aptos"/>
              </a:defRPr>
            </a:pPr>
            <a:r>
              <a:t>•  Ответы на вопросы о содержании, формуле оценивания, литературе и связях курсов.</a:t>
            </a:r>
          </a:p>
          <a:p>
            <a:pPr>
              <a:spcAft>
                <a:spcPts val="800"/>
              </a:spcAft>
              <a:defRPr sz="1500">
                <a:solidFill>
                  <a:srgbClr val="202B3D"/>
                </a:solidFill>
                <a:latin typeface="Aptos"/>
              </a:defRPr>
            </a:pPr>
            <a:r>
              <a:t>•  Краткий ответ с перечнем официальных источников.</a:t>
            </a:r>
          </a:p>
          <a:p>
            <a:pPr>
              <a:spcAft>
                <a:spcPts val="800"/>
              </a:spcAft>
              <a:defRPr sz="1500">
                <a:solidFill>
                  <a:srgbClr val="202B3D"/>
                </a:solidFill>
                <a:latin typeface="Aptos"/>
              </a:defRPr>
            </a:pPr>
            <a:r>
              <a:t>•  Не менее 20 полезных тестов и 10 тестов на ограничения.</a:t>
            </a:r>
          </a:p>
          <a:p>
            <a:pPr>
              <a:spcAft>
                <a:spcPts val="800"/>
              </a:spcAft>
              <a:defRPr sz="1500">
                <a:solidFill>
                  <a:srgbClr val="202B3D"/>
                </a:solidFill>
                <a:latin typeface="Aptos"/>
              </a:defRPr>
            </a:pPr>
            <a:r>
              <a:t>•  Открытый Git-репозиторий, инструкция запуска и короткая презентация.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00200"/>
            <a:ext cx="53492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600200"/>
            <a:ext cx="64008" cy="4343400"/>
          </a:xfrm>
          <a:prstGeom prst="rect">
            <a:avLst/>
          </a:prstGeom>
          <a:solidFill>
            <a:srgbClr val="4476D6"/>
          </a:solidFill>
          <a:ln>
            <a:solidFill>
              <a:srgbClr val="447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737360"/>
            <a:ext cx="49834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111C34"/>
                </a:solidFill>
                <a:latin typeface="Aptos"/>
              </a:defRPr>
            </a:pPr>
            <a:r>
              <a:t>Ключевая идея решения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185416"/>
            <a:ext cx="4983479" cy="3630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B3D"/>
                </a:solidFill>
                <a:latin typeface="Aptos"/>
              </a:defRPr>
            </a:pPr>
            <a:r>
              <a:t>•  Не отправлять целиком все страницы модели на каждый вопрос.</a:t>
            </a:r>
          </a:p>
          <a:p>
            <a:pPr>
              <a:spcAft>
                <a:spcPts val="800"/>
              </a:spcAft>
              <a:defRPr sz="1500">
                <a:solidFill>
                  <a:srgbClr val="202B3D"/>
                </a:solidFill>
                <a:latin typeface="Aptos"/>
              </a:defRPr>
            </a:pPr>
            <a:r>
              <a:t>•  Сначала найти релевантные фрагменты программы.</a:t>
            </a:r>
          </a:p>
          <a:p>
            <a:pPr>
              <a:spcAft>
                <a:spcPts val="800"/>
              </a:spcAft>
              <a:defRPr sz="1500">
                <a:solidFill>
                  <a:srgbClr val="202B3D"/>
                </a:solidFill>
                <a:latin typeface="Aptos"/>
              </a:defRPr>
            </a:pPr>
            <a:r>
              <a:t>•  Передать в LLM вопрос и ограниченный контекст.</a:t>
            </a:r>
          </a:p>
          <a:p>
            <a:pPr>
              <a:spcAft>
                <a:spcPts val="800"/>
              </a:spcAft>
              <a:defRPr sz="1500">
                <a:solidFill>
                  <a:srgbClr val="202B3D"/>
                </a:solidFill>
                <a:latin typeface="Aptos"/>
              </a:defRPr>
            </a:pPr>
            <a:r>
              <a:t>•  Возвращать ссылки на реальные страницы ВШЭ.</a:t>
            </a:r>
          </a:p>
          <a:p>
            <a:pPr>
              <a:spcAft>
                <a:spcPts val="800"/>
              </a:spcAft>
              <a:defRPr sz="1500">
                <a:solidFill>
                  <a:srgbClr val="202B3D"/>
                </a:solidFill>
                <a:latin typeface="Aptos"/>
              </a:defRPr>
            </a:pPr>
            <a:r>
              <a:t>•  Если в источниках нет ответа — честно обозначать недостаток данных.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144768"/>
            <a:ext cx="106984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606C80"/>
                </a:solidFill>
                <a:latin typeface="Aptos"/>
              </a:defRPr>
            </a:pPr>
            <a:r>
              <a:t>Цель — не «знать всё», а отвечать проверяемо по ограниченному официальному корпусу.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1440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D52739"/>
                </a:solidFill>
                <a:latin typeface="Aptos"/>
              </a:defRPr>
            </a:pPr>
            <a:r>
              <a:t>02 • КОМПОНЕНТЫ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11C34"/>
                </a:solidFill>
                <a:latin typeface="Aptos"/>
              </a:defRPr>
            </a:pPr>
            <a:r>
              <a:t>Архитектура прототипа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731520" cy="54864"/>
          </a:xfrm>
          <a:prstGeom prst="rect">
            <a:avLst/>
          </a:prstGeom>
          <a:solidFill>
            <a:srgbClr val="D52739"/>
          </a:solidFill>
          <a:ln>
            <a:solidFill>
              <a:srgbClr val="D5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0">
                <a:solidFill>
                  <a:srgbClr val="606C8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2148840" cy="1024128"/>
          </a:xfrm>
          <a:prstGeom prst="roundRect">
            <a:avLst/>
          </a:prstGeom>
          <a:solidFill>
            <a:srgbClr val="4476D6"/>
          </a:solidFill>
          <a:ln>
            <a:solidFill>
              <a:srgbClr val="447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93392"/>
            <a:ext cx="196596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1. Сайт ВШЭ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59152"/>
            <a:ext cx="196596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ptos"/>
              </a:defRPr>
            </a:pPr>
            <a:r>
              <a:t>Каталог и страницы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828800"/>
            <a:ext cx="2148840" cy="1024128"/>
          </a:xfrm>
          <a:prstGeom prst="roundRect">
            <a:avLst/>
          </a:prstGeom>
          <a:solidFill>
            <a:srgbClr val="4BBEC7"/>
          </a:solidFill>
          <a:ln>
            <a:solidFill>
              <a:srgbClr val="4BB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993392"/>
            <a:ext cx="196596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2. Парсер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359152"/>
            <a:ext cx="196596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ptos"/>
              </a:defRPr>
            </a:pPr>
            <a:r>
              <a:t>requests + BeautifulSoup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1828800"/>
            <a:ext cx="2148840" cy="1024128"/>
          </a:xfrm>
          <a:prstGeom prst="roundRect">
            <a:avLst/>
          </a:prstGeom>
          <a:solidFill>
            <a:srgbClr val="2C9169"/>
          </a:solidFill>
          <a:ln>
            <a:solidFill>
              <a:srgbClr val="2C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440" y="1993392"/>
            <a:ext cx="196596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3. Корпус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2359152"/>
            <a:ext cx="196596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ptos"/>
              </a:defRPr>
            </a:pPr>
            <a:r>
              <a:t>courses.json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828800"/>
            <a:ext cx="2926080" cy="1024128"/>
          </a:xfrm>
          <a:prstGeom prst="roundRect">
            <a:avLst/>
          </a:prstGeom>
          <a:solidFill>
            <a:srgbClr val="D52739"/>
          </a:solidFill>
          <a:ln>
            <a:solidFill>
              <a:srgbClr val="D5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993392"/>
            <a:ext cx="274320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4. Поиск + 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359152"/>
            <a:ext cx="274320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ptos"/>
              </a:defRPr>
            </a:pPr>
            <a:r>
              <a:t>слова и алиасы → Gemini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121408"/>
            <a:ext cx="3657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300" b="1">
                <a:solidFill>
                  <a:srgbClr val="111C3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121408"/>
            <a:ext cx="3657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300" b="1">
                <a:solidFill>
                  <a:srgbClr val="111C3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121408"/>
            <a:ext cx="3657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300" b="1">
                <a:solidFill>
                  <a:srgbClr val="111C3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822191"/>
            <a:ext cx="10332720" cy="1325880"/>
          </a:xfrm>
          <a:prstGeom prst="roundRect">
            <a:avLst/>
          </a:prstGeom>
          <a:solidFill>
            <a:srgbClr val="F5F7FB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041648"/>
            <a:ext cx="21031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111C34"/>
                </a:solidFill>
                <a:latin typeface="Aptos"/>
              </a:defRPr>
            </a:pPr>
            <a:r>
              <a:t>FastAPI / сайт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041648"/>
            <a:ext cx="21031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111C34"/>
                </a:solidFill>
                <a:latin typeface="Aptos"/>
              </a:defRPr>
            </a:pPr>
            <a:r>
              <a:rPr>
                <a:hlinkClick r:id="rId2"/>
              </a:rPr>
              <a:t>@HSEHelperIVTbot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4041648"/>
            <a:ext cx="25146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111C34"/>
                </a:solidFill>
                <a:latin typeface="Aptos"/>
              </a:defRPr>
            </a:pPr>
            <a:r>
              <a:t>SQLite: история чата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4041648"/>
            <a:ext cx="306324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111C34"/>
                </a:solidFill>
                <a:latin typeface="Aptos"/>
              </a:defRPr>
            </a:pPr>
            <a:r>
              <a:t>Mobile — следующий клиент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440680"/>
            <a:ext cx="100584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0">
                <a:solidFill>
                  <a:srgbClr val="606C80"/>
                </a:solidFill>
                <a:latin typeface="Aptos"/>
              </a:defRPr>
            </a:pPr>
            <a:r>
              <a:t>Одна логика ответа для сайта и Telegram. Быстрый локальный режим ищет по словам и алиасам; embeddings можно включить дополнительно.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1440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D52739"/>
                </a:solidFill>
                <a:latin typeface="Aptos"/>
              </a:defRPr>
            </a:pPr>
            <a:r>
              <a:t>03 • RAG-ПРОЦЕСС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11C34"/>
                </a:solidFill>
                <a:latin typeface="Aptos"/>
              </a:defRPr>
            </a:pPr>
            <a:r>
              <a:t>Как формируется ответ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731520" cy="54864"/>
          </a:xfrm>
          <a:prstGeom prst="rect">
            <a:avLst/>
          </a:prstGeom>
          <a:solidFill>
            <a:srgbClr val="D52739"/>
          </a:solidFill>
          <a:ln>
            <a:solidFill>
              <a:srgbClr val="D5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0">
                <a:solidFill>
                  <a:srgbClr val="606C8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1938528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1938528" cy="118872"/>
          </a:xfrm>
          <a:prstGeom prst="rect">
            <a:avLst/>
          </a:prstGeom>
          <a:solidFill>
            <a:srgbClr val="4476D6"/>
          </a:solidFill>
          <a:ln>
            <a:solidFill>
              <a:srgbClr val="447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2331720"/>
            <a:ext cx="1682496" cy="31089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600" b="1">
                <a:solidFill>
                  <a:srgbClr val="111C34"/>
                </a:solidFill>
                <a:latin typeface="Aptos"/>
              </a:defRPr>
            </a:pPr>
            <a:r>
              <a:t>Вопрос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664208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100" b="0">
                <a:solidFill>
                  <a:srgbClr val="606C80"/>
                </a:solidFill>
                <a:latin typeface="Aptos"/>
              </a:defRPr>
            </a:pPr>
            <a:r>
              <a:t>Нормализация</a:t>
            </a:r>
            <a:br/>
            <a:r>
              <a:t>сокращений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9736" y="2542032"/>
            <a:ext cx="329184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800" b="1">
                <a:solidFill>
                  <a:srgbClr val="D5273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52928" y="2011680"/>
            <a:ext cx="1938528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52928" y="2011680"/>
            <a:ext cx="1938528" cy="118872"/>
          </a:xfrm>
          <a:prstGeom prst="rect">
            <a:avLst/>
          </a:prstGeom>
          <a:solidFill>
            <a:srgbClr val="4BBEC7"/>
          </a:solidFill>
          <a:ln>
            <a:solidFill>
              <a:srgbClr val="4BB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80944" y="2331720"/>
            <a:ext cx="1682496" cy="31089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600" b="1">
                <a:solidFill>
                  <a:srgbClr val="111C34"/>
                </a:solidFill>
                <a:latin typeface="Aptos"/>
              </a:defRPr>
            </a:pPr>
            <a:r>
              <a:t>Поиск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0088" y="2743200"/>
            <a:ext cx="1664208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100" b="0">
                <a:solidFill>
                  <a:srgbClr val="606C80"/>
                </a:solidFill>
                <a:latin typeface="Aptos"/>
              </a:defRPr>
            </a:pPr>
            <a:r>
              <a:t>Слова и алиасы; embeddings опционально</a:t>
            </a:r>
            <a:br/>
            <a: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9744" y="2542032"/>
            <a:ext cx="329184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800" b="1">
                <a:solidFill>
                  <a:srgbClr val="D5273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02936" y="2011680"/>
            <a:ext cx="1938528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02936" y="2011680"/>
            <a:ext cx="1938528" cy="118872"/>
          </a:xfrm>
          <a:prstGeom prst="rect">
            <a:avLst/>
          </a:prstGeom>
          <a:solidFill>
            <a:srgbClr val="2C9169"/>
          </a:solidFill>
          <a:ln>
            <a:solidFill>
              <a:srgbClr val="2C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0951" y="2331720"/>
            <a:ext cx="1682496" cy="31089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600" b="1">
                <a:solidFill>
                  <a:srgbClr val="111C34"/>
                </a:solidFill>
                <a:latin typeface="Aptos"/>
              </a:defRPr>
            </a:pPr>
            <a:r>
              <a:t>Контекст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0096" y="2743200"/>
            <a:ext cx="1664208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100" b="0">
                <a:solidFill>
                  <a:srgbClr val="606C80"/>
                </a:solidFill>
                <a:latin typeface="Aptos"/>
              </a:defRPr>
            </a:pPr>
            <a:r>
              <a:t>Топ-фрагменты, лимит</a:t>
            </a:r>
            <a:br/>
            <a:r>
              <a:t>по длине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9752" y="2542032"/>
            <a:ext cx="329184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800" b="1">
                <a:solidFill>
                  <a:srgbClr val="D5273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52944" y="2011680"/>
            <a:ext cx="1938528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52944" y="2011680"/>
            <a:ext cx="1938528" cy="118872"/>
          </a:xfrm>
          <a:prstGeom prst="rect">
            <a:avLst/>
          </a:prstGeom>
          <a:solidFill>
            <a:srgbClr val="D52739"/>
          </a:solidFill>
          <a:ln>
            <a:solidFill>
              <a:srgbClr val="D5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331720"/>
            <a:ext cx="1682496" cy="31089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600" b="1">
                <a:solidFill>
                  <a:srgbClr val="111C34"/>
                </a:solidFill>
                <a:latin typeface="Aptos"/>
              </a:defRPr>
            </a:pPr>
            <a:r>
              <a:t>Генерация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0104" y="2743200"/>
            <a:ext cx="1664208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100" b="0">
                <a:solidFill>
                  <a:srgbClr val="606C80"/>
                </a:solidFill>
                <a:latin typeface="Aptos"/>
              </a:defRPr>
            </a:pPr>
            <a:r>
              <a:t>Gemini кратко отвечает</a:t>
            </a:r>
            <a:br/>
            <a:r>
              <a:t>по найденным данным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542032"/>
            <a:ext cx="329184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800" b="1">
                <a:solidFill>
                  <a:srgbClr val="D5273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02952" y="2011680"/>
            <a:ext cx="1938528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02952" y="2011680"/>
            <a:ext cx="1938528" cy="118872"/>
          </a:xfrm>
          <a:prstGeom prst="rect">
            <a:avLst/>
          </a:prstGeom>
          <a:solidFill>
            <a:srgbClr val="1E2D4B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30968" y="2331720"/>
            <a:ext cx="1682496" cy="31089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600" b="1">
                <a:solidFill>
                  <a:srgbClr val="111C34"/>
                </a:solidFill>
                <a:latin typeface="Aptos"/>
              </a:defRPr>
            </a:pPr>
            <a:r>
              <a:t>Проверяемость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40112" y="2743200"/>
            <a:ext cx="1664208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100" b="0">
                <a:solidFill>
                  <a:srgbClr val="606C80"/>
                </a:solidFill>
                <a:latin typeface="Aptos"/>
              </a:defRPr>
            </a:pPr>
            <a:r>
              <a:t>Источники hse.ru</a:t>
            </a:r>
            <a:br/>
            <a:r>
              <a:t>в ответе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25196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4251960"/>
            <a:ext cx="64008" cy="1417320"/>
          </a:xfrm>
          <a:prstGeom prst="rect">
            <a:avLst/>
          </a:prstGeom>
          <a:solidFill>
            <a:srgbClr val="2C9169"/>
          </a:solidFill>
          <a:ln>
            <a:solidFill>
              <a:srgbClr val="2C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4389120"/>
            <a:ext cx="493775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111C34"/>
                </a:solidFill>
                <a:latin typeface="Aptos"/>
              </a:defRPr>
            </a:pPr>
            <a:r>
              <a:t>Для точных запросов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4837176"/>
            <a:ext cx="4937759" cy="7040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02B3D"/>
                </a:solidFill>
                <a:latin typeface="Aptos"/>
              </a:defRPr>
            </a:pPr>
            <a:r>
              <a:t>•  Например, «кто ведёт матан?» — отдельный разбор названия курса и поля teachers.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251960"/>
            <a:ext cx="5257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251960"/>
            <a:ext cx="64008" cy="1417320"/>
          </a:xfrm>
          <a:prstGeom prst="rect">
            <a:avLst/>
          </a:prstGeom>
          <a:solidFill>
            <a:srgbClr val="D52739"/>
          </a:solidFill>
          <a:ln>
            <a:solidFill>
              <a:srgbClr val="D5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389120"/>
            <a:ext cx="489204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111C34"/>
                </a:solidFill>
                <a:latin typeface="Aptos"/>
              </a:defRPr>
            </a:pPr>
            <a:r>
              <a:t>Для сложных вопросов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4837176"/>
            <a:ext cx="4892040" cy="7040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02B3D"/>
                </a:solidFill>
                <a:latin typeface="Aptos"/>
              </a:defRPr>
            </a:pPr>
            <a:r>
              <a:t>•  В быстрой локальной сборке используется поиск по словам; embeddings можно включить позже.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1440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D52739"/>
                </a:solidFill>
                <a:latin typeface="Aptos"/>
              </a:defRPr>
            </a:pPr>
            <a:r>
              <a:t>04 • КОРПУС ЗНАНИЙ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11C34"/>
                </a:solidFill>
                <a:latin typeface="Aptos"/>
              </a:defRPr>
            </a:pPr>
            <a:r>
              <a:t>Какие данные использует помощник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731520" cy="54864"/>
          </a:xfrm>
          <a:prstGeom prst="rect">
            <a:avLst/>
          </a:prstGeom>
          <a:solidFill>
            <a:srgbClr val="D52739"/>
          </a:solidFill>
          <a:ln>
            <a:solidFill>
              <a:srgbClr val="D5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0">
                <a:solidFill>
                  <a:srgbClr val="606C8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4747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64008" cy="4343400"/>
          </a:xfrm>
          <a:prstGeom prst="rect">
            <a:avLst/>
          </a:prstGeom>
          <a:solidFill>
            <a:srgbClr val="4476D6"/>
          </a:solidFill>
          <a:ln>
            <a:solidFill>
              <a:srgbClr val="447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83080"/>
            <a:ext cx="31089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111C34"/>
                </a:solidFill>
                <a:latin typeface="Aptos"/>
              </a:defRPr>
            </a:pPr>
            <a:r>
              <a:t>Математический анализ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31136"/>
            <a:ext cx="3108960" cy="3630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B3D"/>
                </a:solidFill>
                <a:latin typeface="Aptos"/>
              </a:defRPr>
            </a:pPr>
            <a:r>
              <a:t>•  12 кредитов; 1 курс, модули 1–4.</a:t>
            </a:r>
          </a:p>
          <a:p>
            <a:pPr>
              <a:spcAft>
                <a:spcPts val="800"/>
              </a:spcAft>
              <a:defRPr sz="1400">
                <a:solidFill>
                  <a:srgbClr val="202B3D"/>
                </a:solidFill>
                <a:latin typeface="Aptos"/>
              </a:defRPr>
            </a:pPr>
            <a:r>
              <a:t>•  Пределы, производные, интегралы, ряды, дифференциальные уравнения.</a:t>
            </a:r>
          </a:p>
          <a:p>
            <a:pPr>
              <a:spcAft>
                <a:spcPts val="800"/>
              </a:spcAft>
              <a:defRPr sz="1400">
                <a:solidFill>
                  <a:srgbClr val="202B3D"/>
                </a:solidFill>
                <a:latin typeface="Aptos"/>
              </a:defRPr>
            </a:pPr>
            <a:r>
              <a:t>•  Формы контроля и промежуточная аттестация.</a:t>
            </a:r>
          </a:p>
          <a:p>
            <a:pPr>
              <a:spcAft>
                <a:spcPts val="800"/>
              </a:spcAft>
              <a:defRPr sz="1400">
                <a:solidFill>
                  <a:srgbClr val="202B3D"/>
                </a:solidFill>
                <a:latin typeface="Aptos"/>
              </a:defRPr>
            </a:pPr>
            <a:r>
              <a:t>•  Раздел основной и дополнительной литературы.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45920"/>
            <a:ext cx="34747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645920"/>
            <a:ext cx="64008" cy="4343400"/>
          </a:xfrm>
          <a:prstGeom prst="rect">
            <a:avLst/>
          </a:prstGeom>
          <a:solidFill>
            <a:srgbClr val="4BBEC7"/>
          </a:solidFill>
          <a:ln>
            <a:solidFill>
              <a:srgbClr val="4BB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83080"/>
            <a:ext cx="31089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111C34"/>
                </a:solidFill>
                <a:latin typeface="Aptos"/>
              </a:defRPr>
            </a:pPr>
            <a:r>
              <a:t>Алгебра и геометрия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31136"/>
            <a:ext cx="3108960" cy="3630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B3D"/>
                </a:solidFill>
                <a:latin typeface="Aptos"/>
              </a:defRPr>
            </a:pPr>
            <a:r>
              <a:t>•  5 кредитов; 1 курс, модули 1–4.</a:t>
            </a:r>
          </a:p>
          <a:p>
            <a:pPr>
              <a:spcAft>
                <a:spcPts val="800"/>
              </a:spcAft>
              <a:defRPr sz="1400">
                <a:solidFill>
                  <a:srgbClr val="202B3D"/>
                </a:solidFill>
                <a:latin typeface="Aptos"/>
              </a:defRPr>
            </a:pPr>
            <a:r>
              <a:t>•  Векторы, аналитическая геометрия, комплексные числа, матрицы.</a:t>
            </a:r>
          </a:p>
          <a:p>
            <a:pPr>
              <a:spcAft>
                <a:spcPts val="800"/>
              </a:spcAft>
              <a:defRPr sz="1400">
                <a:solidFill>
                  <a:srgbClr val="202B3D"/>
                </a:solidFill>
                <a:latin typeface="Aptos"/>
              </a:defRPr>
            </a:pPr>
            <a:r>
              <a:t>•  Контрольные, семинарская активность, домашние задания, экзамены.</a:t>
            </a:r>
          </a:p>
          <a:p>
            <a:pPr>
              <a:spcAft>
                <a:spcPts val="800"/>
              </a:spcAft>
              <a:defRPr sz="1400">
                <a:solidFill>
                  <a:srgbClr val="202B3D"/>
                </a:solidFill>
                <a:latin typeface="Aptos"/>
              </a:defRPr>
            </a:pPr>
            <a:r>
              <a:t>•  На странице описаны связи с другими дисциплинами.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747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64008" cy="4343400"/>
          </a:xfrm>
          <a:prstGeom prst="rect">
            <a:avLst/>
          </a:prstGeom>
          <a:solidFill>
            <a:srgbClr val="D52739"/>
          </a:solidFill>
          <a:ln>
            <a:solidFill>
              <a:srgbClr val="D5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783080"/>
            <a:ext cx="31089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111C34"/>
                </a:solidFill>
                <a:latin typeface="Aptos"/>
              </a:defRPr>
            </a:pPr>
            <a:r>
              <a:t>Программирование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231136"/>
            <a:ext cx="3108960" cy="3630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B3D"/>
                </a:solidFill>
                <a:latin typeface="Aptos"/>
              </a:defRPr>
            </a:pPr>
            <a:r>
              <a:t>•  8 кредитов; 1 курс, модули 1–4.</a:t>
            </a:r>
          </a:p>
          <a:p>
            <a:pPr>
              <a:spcAft>
                <a:spcPts val="800"/>
              </a:spcAft>
              <a:defRPr sz="1400">
                <a:solidFill>
                  <a:srgbClr val="202B3D"/>
                </a:solidFill>
                <a:latin typeface="Aptos"/>
              </a:defRPr>
            </a:pPr>
            <a:r>
              <a:t>•  C и C++, массивы, матрицы, указатели, память, списки и деревья.</a:t>
            </a:r>
          </a:p>
          <a:p>
            <a:pPr>
              <a:spcAft>
                <a:spcPts val="800"/>
              </a:spcAft>
              <a:defRPr sz="1400">
                <a:solidFill>
                  <a:srgbClr val="202B3D"/>
                </a:solidFill>
                <a:latin typeface="Aptos"/>
              </a:defRPr>
            </a:pPr>
            <a:r>
              <a:t>•  Преподаватели и формы контроля берутся со страницы курса.</a:t>
            </a:r>
          </a:p>
          <a:p>
            <a:pPr>
              <a:spcAft>
                <a:spcPts val="800"/>
              </a:spcAft>
              <a:defRPr sz="1400">
                <a:solidFill>
                  <a:srgbClr val="202B3D"/>
                </a:solidFill>
                <a:latin typeface="Aptos"/>
              </a:defRPr>
            </a:pPr>
            <a:r>
              <a:t>•  Данные ограничены собранными страницами.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199632"/>
            <a:ext cx="107899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0">
                <a:solidFill>
                  <a:srgbClr val="606C80"/>
                </a:solidFill>
                <a:latin typeface="Aptos"/>
              </a:defRPr>
            </a:pPr>
            <a:r>
              <a:t>Источники: hse.ru/ba/isct/courses/1197128651.html • /1197128571.html • /1197128565.html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1440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D52739"/>
                </a:solidFill>
                <a:latin typeface="Aptos"/>
              </a:defRPr>
            </a:pPr>
            <a:r>
              <a:t>05 • КАЧЕСТВО И РИСКИ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11C34"/>
                </a:solidFill>
                <a:latin typeface="Aptos"/>
              </a:defRPr>
            </a:pPr>
            <a:r>
              <a:t>Что работает и где границы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731520" cy="54864"/>
          </a:xfrm>
          <a:prstGeom prst="rect">
            <a:avLst/>
          </a:prstGeom>
          <a:solidFill>
            <a:srgbClr val="D52739"/>
          </a:solidFill>
          <a:ln>
            <a:solidFill>
              <a:srgbClr val="D5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0">
                <a:solidFill>
                  <a:srgbClr val="606C8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3949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4008" cy="4297680"/>
          </a:xfrm>
          <a:prstGeom prst="rect">
            <a:avLst/>
          </a:prstGeom>
          <a:solidFill>
            <a:srgbClr val="2C9169"/>
          </a:solidFill>
          <a:ln>
            <a:solidFill>
              <a:srgbClr val="2C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83080"/>
            <a:ext cx="502920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111C34"/>
                </a:solidFill>
                <a:latin typeface="Aptos"/>
              </a:defRPr>
            </a:pPr>
            <a:r>
              <a:t>Сильные стороны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31136"/>
            <a:ext cx="5029200" cy="35844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B3D"/>
                </a:solidFill>
                <a:latin typeface="Aptos"/>
              </a:defRPr>
            </a:pPr>
            <a:r>
              <a:t>•  Официальные URL сохранены в каждой записи.</a:t>
            </a:r>
          </a:p>
          <a:p>
            <a:pPr>
              <a:spcAft>
                <a:spcPts val="800"/>
              </a:spcAft>
              <a:defRPr sz="1400">
                <a:solidFill>
                  <a:srgbClr val="202B3D"/>
                </a:solidFill>
                <a:latin typeface="Aptos"/>
              </a:defRPr>
            </a:pPr>
            <a:r>
              <a:t>•  Полезные метаданные: год, кредиты, язык, преподаватели и разделы программы.</a:t>
            </a:r>
          </a:p>
          <a:p>
            <a:pPr>
              <a:spcAft>
                <a:spcPts val="800"/>
              </a:spcAft>
              <a:defRPr sz="1400">
                <a:solidFill>
                  <a:srgbClr val="202B3D"/>
                </a:solidFill>
                <a:latin typeface="Aptos"/>
              </a:defRPr>
            </a:pPr>
            <a:r>
              <a:t>•  Быстрый режим учитывает названия курсов, слова и известные алиасы.</a:t>
            </a:r>
          </a:p>
          <a:p>
            <a:pPr>
              <a:spcAft>
                <a:spcPts val="800"/>
              </a:spcAft>
              <a:defRPr sz="1400">
                <a:solidFill>
                  <a:srgbClr val="202B3D"/>
                </a:solidFill>
                <a:latin typeface="Aptos"/>
              </a:defRPr>
            </a:pPr>
            <a:r>
              <a:t>•  Embeddings доступны как опция, но не нужны для первого запуска.</a:t>
            </a:r>
          </a:p>
          <a:p>
            <a:pPr>
              <a:spcAft>
                <a:spcPts val="800"/>
              </a:spcAft>
              <a:defRPr sz="1400">
                <a:solidFill>
                  <a:srgbClr val="202B3D"/>
                </a:solidFill>
                <a:latin typeface="Aptos"/>
              </a:defRPr>
            </a:pPr>
            <a:r>
              <a:t>•  История диалога изолирована по session_id.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492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64008" cy="4297680"/>
          </a:xfrm>
          <a:prstGeom prst="rect">
            <a:avLst/>
          </a:prstGeom>
          <a:solidFill>
            <a:srgbClr val="D52739"/>
          </a:solidFill>
          <a:ln>
            <a:solidFill>
              <a:srgbClr val="D5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783080"/>
            <a:ext cx="498347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111C34"/>
                </a:solidFill>
                <a:latin typeface="Aptos"/>
              </a:defRPr>
            </a:pPr>
            <a:r>
              <a:t>Ограничения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31136"/>
            <a:ext cx="4983479" cy="35844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B3D"/>
                </a:solidFill>
                <a:latin typeface="Aptos"/>
              </a:defRPr>
            </a:pPr>
            <a:r>
              <a:t>•  Каталог ограничен параметрами сбора и может быть неполным.</a:t>
            </a:r>
          </a:p>
          <a:p>
            <a:pPr>
              <a:spcAft>
                <a:spcPts val="800"/>
              </a:spcAft>
              <a:defRPr sz="1400">
                <a:solidFill>
                  <a:srgbClr val="202B3D"/>
                </a:solidFill>
                <a:latin typeface="Aptos"/>
              </a:defRPr>
            </a:pPr>
            <a:r>
              <a:t>•  Страница курса не содержит распределение лекторов/семинаристов по группам.</a:t>
            </a:r>
          </a:p>
          <a:p>
            <a:pPr>
              <a:spcAft>
                <a:spcPts val="800"/>
              </a:spcAft>
              <a:defRPr sz="1400">
                <a:solidFill>
                  <a:srgbClr val="202B3D"/>
                </a:solidFill>
                <a:latin typeface="Aptos"/>
              </a:defRPr>
            </a:pPr>
            <a:r>
              <a:t>•  Закрытые LMS, оценки студентов и расписание не входят в корпус.</a:t>
            </a:r>
          </a:p>
          <a:p>
            <a:pPr>
              <a:spcAft>
                <a:spcPts val="800"/>
              </a:spcAft>
              <a:defRPr sz="1400">
                <a:solidFill>
                  <a:srgbClr val="202B3D"/>
                </a:solidFill>
                <a:latin typeface="Aptos"/>
              </a:defRPr>
            </a:pPr>
            <a:r>
              <a:t>•  Gemini может быть недоступен или упереться в бесплатную квоту.</a:t>
            </a:r>
          </a:p>
          <a:p>
            <a:pPr>
              <a:spcAft>
                <a:spcPts val="800"/>
              </a:spcAft>
              <a:defRPr sz="1400">
                <a:solidFill>
                  <a:srgbClr val="202B3D"/>
                </a:solidFill>
                <a:latin typeface="Aptos"/>
              </a:defRPr>
            </a:pPr>
            <a:r>
              <a:t>•  HTML сайта может измениться; ответы требуют проверки по источнику.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1440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D52739"/>
                </a:solidFill>
                <a:latin typeface="Aptos"/>
              </a:defRPr>
            </a:pPr>
            <a:r>
              <a:t>06 • ВЕРИФИКАЦИЯ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11C34"/>
                </a:solidFill>
                <a:latin typeface="Aptos"/>
              </a:defRPr>
            </a:pPr>
            <a:r>
              <a:t>Тестирование: что проверено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731520" cy="54864"/>
          </a:xfrm>
          <a:prstGeom prst="rect">
            <a:avLst/>
          </a:prstGeom>
          <a:solidFill>
            <a:srgbClr val="D52739"/>
          </a:solidFill>
          <a:ln>
            <a:solidFill>
              <a:srgbClr val="D5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0">
                <a:solidFill>
                  <a:srgbClr val="606C8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2788920" cy="1234440"/>
          </a:xfrm>
          <a:prstGeom prst="roundRect">
            <a:avLst/>
          </a:prstGeom>
          <a:solidFill>
            <a:srgbClr val="F5F7FB"/>
          </a:solidFill>
          <a:ln>
            <a:solidFill>
              <a:srgbClr val="DF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874519"/>
            <a:ext cx="2468880" cy="4389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700" b="1">
                <a:solidFill>
                  <a:srgbClr val="4476D6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350008"/>
            <a:ext cx="246888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1">
                <a:solidFill>
                  <a:srgbClr val="111C34"/>
                </a:solidFill>
                <a:latin typeface="Aptos"/>
              </a:defRPr>
            </a:pPr>
            <a:r>
              <a:t>проверок в tests.py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737360"/>
            <a:ext cx="2788920" cy="1234440"/>
          </a:xfrm>
          <a:prstGeom prst="roundRect">
            <a:avLst/>
          </a:prstGeom>
          <a:solidFill>
            <a:srgbClr val="F5F7FB"/>
          </a:solidFill>
          <a:ln>
            <a:solidFill>
              <a:srgbClr val="DF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874519"/>
            <a:ext cx="2468880" cy="4389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700" b="1">
                <a:solidFill>
                  <a:srgbClr val="2C9169"/>
                </a:solidFill>
                <a:latin typeface="Aptos"/>
              </a:defRPr>
            </a:pPr>
            <a:r>
              <a:t>HTTP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2350008"/>
            <a:ext cx="246888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1">
                <a:solidFill>
                  <a:srgbClr val="111C34"/>
                </a:solidFill>
                <a:latin typeface="Aptos"/>
              </a:defRPr>
            </a:pPr>
            <a:r>
              <a:t>smoke-тесты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37360"/>
            <a:ext cx="2788920" cy="1234440"/>
          </a:xfrm>
          <a:prstGeom prst="roundRect">
            <a:avLst/>
          </a:prstGeom>
          <a:solidFill>
            <a:srgbClr val="F5F7FB"/>
          </a:solidFill>
          <a:ln>
            <a:solidFill>
              <a:srgbClr val="DF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91271" y="1874519"/>
            <a:ext cx="2468880" cy="4389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700" b="1">
                <a:solidFill>
                  <a:srgbClr val="D52739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1271" y="2350008"/>
            <a:ext cx="246888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1">
                <a:solidFill>
                  <a:srgbClr val="111C34"/>
                </a:solidFill>
                <a:latin typeface="Aptos"/>
              </a:defRPr>
            </a:pPr>
            <a:r>
              <a:t>сценариев benchmark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01568"/>
            <a:ext cx="1069848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11C34"/>
                </a:solidFill>
                <a:latin typeface="Aptos"/>
              </a:defRPr>
            </a:pPr>
            <a:r>
              <a:t>Проверено локально: Python-компиляция модулей, smoke-тесты парсера/утилит и HTTP smoke-тесты — успешны.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160520"/>
            <a:ext cx="10561320" cy="1143000"/>
          </a:xfrm>
          <a:prstGeom prst="roundRect">
            <a:avLst/>
          </a:prstGeom>
          <a:solidFill>
            <a:srgbClr val="FFF8E6"/>
          </a:solidFill>
          <a:ln>
            <a:solidFill>
              <a:srgbClr val="F5E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389120"/>
            <a:ext cx="10058400" cy="6583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02B3D"/>
                </a:solidFill>
                <a:latin typeface="Aptos"/>
              </a:defRPr>
            </a:pPr>
            <a:r>
              <a:t>Важно: 30 функциональных запросов через живой Gemini должны быть запущены на актуальном корпусе. run_benchmark.py сохраняет фактические ответы и источники; корректность оценивается вручную по эталонам.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687568"/>
            <a:ext cx="105156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606C80"/>
                </a:solidFill>
                <a:latin typeface="Aptos"/>
              </a:defRPr>
            </a:pPr>
            <a:r>
              <a:t>ТЗ требует минимум 20 успешных и 10 ограничительных сценариев; набор и эталонные ответы приложены в docs/.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1440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D52739"/>
                </a:solidFill>
                <a:latin typeface="Aptos"/>
              </a:defRPr>
            </a:pPr>
            <a:r>
              <a:t>07 • ПЛАН РАЗВИТИЯ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Что улучшить за дополнительные 2 дня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731520" cy="54864"/>
          </a:xfrm>
          <a:prstGeom prst="rect">
            <a:avLst/>
          </a:prstGeom>
          <a:solidFill>
            <a:srgbClr val="D52739"/>
          </a:solidFill>
          <a:ln>
            <a:solidFill>
              <a:srgbClr val="D5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0">
                <a:solidFill>
                  <a:srgbClr val="606C8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0292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1">
                <a:solidFill>
                  <a:srgbClr val="4BBEC7"/>
                </a:solidFill>
                <a:latin typeface="Aptos"/>
              </a:defRPr>
            </a:pPr>
            <a:r>
              <a:t>День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516636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057400"/>
            <a:ext cx="64008" cy="3337560"/>
          </a:xfrm>
          <a:prstGeom prst="rect">
            <a:avLst/>
          </a:prstGeom>
          <a:solidFill>
            <a:srgbClr val="4BBEC7"/>
          </a:solidFill>
          <a:ln>
            <a:solidFill>
              <a:srgbClr val="4BB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94560"/>
            <a:ext cx="480060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111C34"/>
                </a:solidFill>
                <a:latin typeface="Aptos"/>
              </a:defRPr>
            </a:pPr>
            <a:r>
              <a:t>Качество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642616"/>
            <a:ext cx="4800600" cy="2624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B3D"/>
                </a:solidFill>
                <a:latin typeface="Aptos"/>
              </a:defRPr>
            </a:pPr>
            <a:r>
              <a:t>•  Собрать и проверить весь каталог первого курса, сверить статусы загрузки.</a:t>
            </a:r>
          </a:p>
          <a:p>
            <a:pPr>
              <a:spcAft>
                <a:spcPts val="800"/>
              </a:spcAft>
              <a:defRPr sz="1400">
                <a:solidFill>
                  <a:srgbClr val="202B3D"/>
                </a:solidFill>
                <a:latin typeface="Aptos"/>
              </a:defRPr>
            </a:pPr>
            <a:r>
              <a:t>•  Добавить проверки полноты полей и валидности официальных URL.</a:t>
            </a:r>
          </a:p>
          <a:p>
            <a:pPr>
              <a:spcAft>
                <a:spcPts val="800"/>
              </a:spcAft>
              <a:defRPr sz="1400">
                <a:solidFill>
                  <a:srgbClr val="202B3D"/>
                </a:solidFill>
                <a:latin typeface="Aptos"/>
              </a:defRPr>
            </a:pPr>
            <a:r>
              <a:t>•  Проверить точность retrieval на всех 30 вопросах; устранить ошибки top-k/алиасов.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45920"/>
            <a:ext cx="50292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1">
                <a:solidFill>
                  <a:srgbClr val="4BBEC7"/>
                </a:solidFill>
                <a:latin typeface="Aptos"/>
              </a:defRPr>
            </a:pPr>
            <a:r>
              <a:t>День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57400"/>
            <a:ext cx="52578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057400"/>
            <a:ext cx="64008" cy="3337560"/>
          </a:xfrm>
          <a:prstGeom prst="rect">
            <a:avLst/>
          </a:prstGeom>
          <a:solidFill>
            <a:srgbClr val="D52739"/>
          </a:solidFill>
          <a:ln>
            <a:solidFill>
              <a:srgbClr val="D5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194560"/>
            <a:ext cx="489204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111C34"/>
                </a:solidFill>
                <a:latin typeface="Aptos"/>
              </a:defRPr>
            </a:pPr>
            <a:r>
              <a:t>Надёжность и 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642616"/>
            <a:ext cx="4892040" cy="2624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B3D"/>
                </a:solidFill>
                <a:latin typeface="Aptos"/>
              </a:defRPr>
            </a:pPr>
            <a:r>
              <a:t>•  Настроить retries/backoff и логирование ошибок провайдера.</a:t>
            </a:r>
          </a:p>
          <a:p>
            <a:pPr>
              <a:spcAft>
                <a:spcPts val="800"/>
              </a:spcAft>
              <a:defRPr sz="1400">
                <a:solidFill>
                  <a:srgbClr val="202B3D"/>
                </a:solidFill>
                <a:latin typeface="Aptos"/>
              </a:defRPr>
            </a:pPr>
            <a:r>
              <a:t>•  Добавить тесты регрессии и автоматизированный отчёт качества.</a:t>
            </a:r>
          </a:p>
          <a:p>
            <a:pPr>
              <a:spcAft>
                <a:spcPts val="800"/>
              </a:spcAft>
              <a:defRPr sz="1400">
                <a:solidFill>
                  <a:srgbClr val="202B3D"/>
                </a:solidFill>
                <a:latin typeface="Aptos"/>
              </a:defRPr>
            </a:pPr>
            <a:r>
              <a:t>•  Подготовить HTTPS, безопасные секреты и резервное копирование для VPS.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97880"/>
            <a:ext cx="107899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D7DFEE"/>
                </a:solidFill>
                <a:latin typeface="Aptos"/>
              </a:defRPr>
            </a:pPr>
            <a:r>
              <a:t>Приоритет: проверяемость источников и честный отказ важнее «уверенного» ответа без данных.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1440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D52739"/>
                </a:solidFill>
                <a:latin typeface="Aptos"/>
              </a:defRPr>
            </a:pPr>
            <a:r>
              <a:t>08 • МАТЕРИАЛЫ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11C34"/>
                </a:solidFill>
                <a:latin typeface="Aptos"/>
              </a:defRPr>
            </a:pPr>
            <a:r>
              <a:t>Источники и комплект сдачи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731520" cy="54864"/>
          </a:xfrm>
          <a:prstGeom prst="rect">
            <a:avLst/>
          </a:prstGeom>
          <a:solidFill>
            <a:srgbClr val="D52739"/>
          </a:solidFill>
          <a:ln>
            <a:solidFill>
              <a:srgbClr val="D5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0">
                <a:solidFill>
                  <a:srgbClr val="606C8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3035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64008" cy="4343400"/>
          </a:xfrm>
          <a:prstGeom prst="rect">
            <a:avLst/>
          </a:prstGeom>
          <a:solidFill>
            <a:srgbClr val="4476D6"/>
          </a:solidFill>
          <a:ln>
            <a:solidFill>
              <a:srgbClr val="447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83080"/>
            <a:ext cx="4937759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111C34"/>
                </a:solidFill>
                <a:latin typeface="Aptos"/>
              </a:defRPr>
            </a:pPr>
            <a:r>
              <a:t>Официальные страницы ВШЭ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31136"/>
            <a:ext cx="4937759" cy="3630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02B3D"/>
                </a:solidFill>
                <a:latin typeface="Aptos"/>
              </a:defRPr>
            </a:pPr>
            <a:r>
              <a:t>•  Каталог 1 курса, 2026/2027 — фильтр по ТЗ.</a:t>
            </a:r>
          </a:p>
          <a:p>
            <a:pPr>
              <a:spcAft>
                <a:spcPts val="800"/>
              </a:spcAft>
              <a:defRPr sz="1300">
                <a:solidFill>
                  <a:srgbClr val="202B3D"/>
                </a:solidFill>
                <a:latin typeface="Aptos"/>
              </a:defRPr>
            </a:pPr>
            <a:r>
              <a:t>•  Математический анализ — программа, оценивание и литература.</a:t>
            </a:r>
          </a:p>
          <a:p>
            <a:pPr>
              <a:spcAft>
                <a:spcPts val="800"/>
              </a:spcAft>
              <a:defRPr sz="1300">
                <a:solidFill>
                  <a:srgbClr val="202B3D"/>
                </a:solidFill>
                <a:latin typeface="Aptos"/>
              </a:defRPr>
            </a:pPr>
            <a:r>
              <a:t>•  Алгебра и геометрия — темы и связи с другими дисциплинами.</a:t>
            </a:r>
          </a:p>
          <a:p>
            <a:pPr>
              <a:spcAft>
                <a:spcPts val="800"/>
              </a:spcAft>
              <a:defRPr sz="1300">
                <a:solidFill>
                  <a:srgbClr val="202B3D"/>
                </a:solidFill>
                <a:latin typeface="Aptos"/>
              </a:defRPr>
            </a:pPr>
            <a:r>
              <a:t>•  Алгоритмизация и программирование — C/C++ и структуры данных.</a:t>
            </a:r>
          </a:p>
          <a:p>
            <a:pPr>
              <a:spcAft>
                <a:spcPts val="800"/>
              </a:spcAft>
              <a:defRPr sz="1300">
                <a:solidFill>
                  <a:srgbClr val="202B3D"/>
                </a:solidFill>
                <a:latin typeface="Aptos"/>
              </a:defRPr>
            </a:pPr>
            <a:r>
              <a:t>•  Введение в специальность — цель и формула оценивания.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52120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45920"/>
            <a:ext cx="64008" cy="4343400"/>
          </a:xfrm>
          <a:prstGeom prst="rect">
            <a:avLst/>
          </a:prstGeom>
          <a:solidFill>
            <a:srgbClr val="D52739"/>
          </a:solidFill>
          <a:ln>
            <a:solidFill>
              <a:srgbClr val="D5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783080"/>
            <a:ext cx="484632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111C34"/>
                </a:solidFill>
                <a:latin typeface="Aptos"/>
              </a:defRPr>
            </a:pPr>
            <a:r>
              <a:t>Что приложено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231136"/>
            <a:ext cx="4846320" cy="3630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02B3D"/>
                </a:solidFill>
                <a:latin typeface="Aptos"/>
              </a:defRPr>
            </a:pPr>
            <a:r>
              <a:rPr>
                <a:hlinkClick r:id="rId2"/>
              </a:rPr>
              <a:t>•  README.md — запуск, API и Telegram-демо @HSEHelperIVTbot.</a:t>
            </a:r>
          </a:p>
          <a:p>
            <a:pPr>
              <a:spcAft>
                <a:spcPts val="800"/>
              </a:spcAft>
              <a:defRPr sz="1300">
                <a:solidFill>
                  <a:srgbClr val="202B3D"/>
                </a:solidFill>
                <a:latin typeface="Aptos"/>
              </a:defRPr>
            </a:pPr>
            <a:r>
              <a:t>•  docs/Тестирование_30_вопросов.md — эталонные вопросы и критерии.</a:t>
            </a:r>
          </a:p>
          <a:p>
            <a:pPr>
              <a:spcAft>
                <a:spcPts val="800"/>
              </a:spcAft>
              <a:defRPr sz="1300">
                <a:solidFill>
                  <a:srgbClr val="202B3D"/>
                </a:solidFill>
                <a:latin typeface="Aptos"/>
              </a:defRPr>
            </a:pPr>
            <a:r>
              <a:t>•  benchmark_cases.json + run_benchmark.py — сбор фактических ответов.</a:t>
            </a:r>
          </a:p>
          <a:p>
            <a:pPr>
              <a:spcAft>
                <a:spcPts val="800"/>
              </a:spcAft>
              <a:defRPr sz="1300">
                <a:solidFill>
                  <a:srgbClr val="202B3D"/>
                </a:solidFill>
                <a:latin typeface="Aptos"/>
              </a:defRPr>
            </a:pPr>
            <a:r>
              <a:t>•  docs/Источники_и_границы.md — источники и ограничения.</a:t>
            </a:r>
          </a:p>
          <a:p>
            <a:pPr>
              <a:spcAft>
                <a:spcPts val="800"/>
              </a:spcAft>
              <a:defRPr sz="1300">
                <a:solidFill>
                  <a:srgbClr val="202B3D"/>
                </a:solidFill>
                <a:latin typeface="Aptos"/>
              </a:defRPr>
            </a:pPr>
            <a:r>
              <a:t>•  Презентация — объяснение архитектуры, тестов и плана улучшения.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263640"/>
            <a:ext cx="106070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0">
                <a:solidFill>
                  <a:srgbClr val="606C80"/>
                </a:solidFill>
                <a:latin typeface="Aptos"/>
              </a:defRPr>
            </a:pPr>
            <a:r>
              <a:t>Перед сдачей: Public-репозиторий, фактический прогон 30 вопросов и презентация. Бот: t.me/HSEHelperIVTbot (при запущенных API и bot.py).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